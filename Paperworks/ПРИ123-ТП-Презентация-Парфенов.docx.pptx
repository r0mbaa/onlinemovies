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57" r:id="rId5"/>
    <p:sldId id="260" r:id="rId6"/>
    <p:sldId id="261" r:id="rId7"/>
    <p:sldId id="264" r:id="rId8"/>
    <p:sldId id="265" r:id="rId9"/>
    <p:sldId id="266" r:id="rId10"/>
    <p:sldId id="263" r:id="rId11"/>
    <p:sldId id="267" r:id="rId12"/>
    <p:sldId id="268" r:id="rId13"/>
    <p:sldId id="269" r:id="rId14"/>
    <p:sldId id="270" r:id="rId15"/>
    <p:sldId id="272" r:id="rId16"/>
    <p:sldId id="273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150D4-9FCD-4FC5-AA87-329B5193CD3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2045D2-9A77-48F6-8F79-52E28E76F7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848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B94B-F3D2-4516-9840-90E5FF7F04B0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9CD5-99D4-441A-BF8F-05F5F678F504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2F825-36E7-409C-A86A-77D726B81562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794B1-921F-4489-AC39-E71FB6588B99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343C-8758-45A5-9100-B72BA9CAF34D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D2734-E24F-4783-A950-E2D41AE4088F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FF859-9D52-4997-93C6-8AFF6AE82D6F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6F93-A3C8-48A1-9C4F-1DFE702DBDDE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0A6E-612F-41E7-87BB-5E9A7CD88502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D679-ADE9-4262-9FEA-30CB6023196F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F9AC-8269-4BC9-8FD5-759F2A43DDE7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C5148-3CC8-4CE0-A35F-067ED596AED4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5F82-EC8C-4C81-9B8E-9DDF87DC6FE0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2517-38A8-46E4-A8ED-021741D48D51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0D51-3578-4410-A5CB-3701E38D1E40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7452-15C3-42D6-9184-46BFDDADBAA4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4B0FE-E9E8-4BEA-A714-28B136199D4F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8A69D-7EF5-CEFB-1C0A-3DE395E9F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021" y="2404534"/>
            <a:ext cx="8503982" cy="1646302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Курсовой проект на тему «Онлайн фильмотека»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7B4493-62F4-27F6-08EC-20EE520141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 ст. гр. ПРИ-123</a:t>
            </a:r>
            <a:br>
              <a:rPr lang="ru-RU" dirty="0"/>
            </a:br>
            <a:r>
              <a:rPr lang="ru-RU" dirty="0"/>
              <a:t>Парфенов Р.С.</a:t>
            </a:r>
          </a:p>
        </p:txBody>
      </p:sp>
    </p:spTree>
    <p:extLst>
      <p:ext uri="{BB962C8B-B14F-4D97-AF65-F5344CB8AC3E}">
        <p14:creationId xmlns:p14="http://schemas.microsoft.com/office/powerpoint/2010/main" val="3391738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999A51-7C31-5C3C-E0CC-B9565A18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Анализ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EC192B-1058-9A1B-47FD-5FCEE913B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0276"/>
            <a:ext cx="8596668" cy="50645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/>
                </a:solidFill>
              </a:rPr>
              <a:t>Онлайн-фильмотека — это веб-приложение для управления каталогом фильмов, персональными списками пользователей и системой рекомендаций на основе жанровых предпочтений. Система позволяет пользователям искать фильмы, создавать персональные списки с различными статусами, оценивать просмотренные фильмы и получать персональные рекомендации.</a:t>
            </a:r>
          </a:p>
        </p:txBody>
      </p:sp>
      <p:pic>
        <p:nvPicPr>
          <p:cNvPr id="1040" name="Picture 16" descr="Popcorn Bucket Изображения: просматривайте стоковые фотографии, векторные  изображения и видео в количестве 146,630 | Adobe Stock">
            <a:extLst>
              <a:ext uri="{FF2B5EF4-FFF2-40B4-BE49-F238E27FC236}">
                <a16:creationId xmlns:a16="http://schemas.microsoft.com/office/drawing/2014/main" id="{C21F6E58-DD38-643A-A7B4-6AD16CC75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4284596"/>
            <a:ext cx="3646013" cy="242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DED1A9-AE7B-177F-3433-D8864342B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DC7B-6E84-4C5A-BEE6-E3119E0AF23E}" type="slidenum">
              <a:rPr lang="en-US" sz="1800" smtClean="0">
                <a:solidFill>
                  <a:schemeClr val="tx1"/>
                </a:solidFill>
              </a:rPr>
              <a:t>2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866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6AE38-01A5-C07E-6DA7-8B4BD102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Пользователи подсистемы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00E0A1-6E58-E8A3-91F2-7409E49C5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i="1" dirty="0">
                <a:solidFill>
                  <a:schemeClr val="tx1"/>
                </a:solidFill>
              </a:rPr>
              <a:t>Посетитель </a:t>
            </a:r>
            <a:r>
              <a:rPr lang="ru-RU" sz="2000" dirty="0">
                <a:solidFill>
                  <a:schemeClr val="tx1"/>
                </a:solidFill>
              </a:rPr>
              <a:t>– человек, не зарегистрированный в системе, являющийся гостем, который может просматривать каталог фильмов, а также публичные профиля пользователей.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i="1" dirty="0">
                <a:solidFill>
                  <a:schemeClr val="tx1"/>
                </a:solidFill>
              </a:rPr>
              <a:t>Пользователь</a:t>
            </a:r>
            <a:r>
              <a:rPr lang="ru-RU" sz="2000" dirty="0">
                <a:solidFill>
                  <a:schemeClr val="tx1"/>
                </a:solidFill>
              </a:rPr>
              <a:t> – человек, у которого могут быть личные списки фильмов и настроенная система рекомендаций.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i="1" dirty="0">
                <a:solidFill>
                  <a:schemeClr val="tx1"/>
                </a:solidFill>
              </a:rPr>
              <a:t>Администратор </a:t>
            </a:r>
            <a:r>
              <a:rPr lang="ru-RU" sz="2000" dirty="0">
                <a:solidFill>
                  <a:schemeClr val="tx1"/>
                </a:solidFill>
              </a:rPr>
              <a:t>– человек, занимающийся администрированием сайта приложения.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DD0656-526E-2F2C-19C9-6C51CFE8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3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216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09E3CE-4300-10C1-366C-3EE89031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755970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Выбор технологий (Нефункциональные требования)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90B987-4504-ACFA-7DDD-4164806F4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</a:rPr>
              <a:t>В качестве </a:t>
            </a:r>
            <a:r>
              <a:rPr lang="ru-RU" sz="2000" dirty="0" err="1">
                <a:solidFill>
                  <a:schemeClr val="tx1"/>
                </a:solidFill>
              </a:rPr>
              <a:t>бекенд</a:t>
            </a:r>
            <a:r>
              <a:rPr lang="ru-RU" sz="2000" dirty="0">
                <a:solidFill>
                  <a:schemeClr val="tx1"/>
                </a:solidFill>
              </a:rPr>
              <a:t> части приложения бы выбран </a:t>
            </a:r>
            <a:r>
              <a:rPr lang="en-US" sz="2000" dirty="0" err="1">
                <a:solidFill>
                  <a:schemeClr val="tx1"/>
                </a:solidFill>
              </a:rPr>
              <a:t>.Net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framework</a:t>
            </a:r>
          </a:p>
          <a:p>
            <a:endParaRPr lang="ru-RU" sz="2000" dirty="0">
              <a:solidFill>
                <a:schemeClr val="tx1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Фронтенд часть была основана на </a:t>
            </a:r>
            <a:r>
              <a:rPr lang="en-US" sz="2000" dirty="0">
                <a:solidFill>
                  <a:schemeClr val="tx1"/>
                </a:solidFill>
              </a:rPr>
              <a:t>React + </a:t>
            </a:r>
            <a:r>
              <a:rPr lang="en-US" sz="2000" dirty="0" err="1">
                <a:solidFill>
                  <a:schemeClr val="tx1"/>
                </a:solidFill>
              </a:rPr>
              <a:t>vite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СУБД – </a:t>
            </a:r>
            <a:r>
              <a:rPr lang="en-US" sz="2000" dirty="0" err="1">
                <a:solidFill>
                  <a:schemeClr val="tx1"/>
                </a:solidFill>
              </a:rPr>
              <a:t>Mysql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Функциональное тестирование – </a:t>
            </a:r>
            <a:r>
              <a:rPr lang="en-US" sz="2000" dirty="0">
                <a:solidFill>
                  <a:schemeClr val="tx1"/>
                </a:solidFill>
              </a:rPr>
              <a:t>Postman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Нефункциональное тестирование - </a:t>
            </a:r>
            <a:r>
              <a:rPr lang="en-US" sz="2000" dirty="0" err="1">
                <a:solidFill>
                  <a:schemeClr val="tx1"/>
                </a:solidFill>
              </a:rPr>
              <a:t>Xunit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1AF16E-EDB9-05FF-A2BE-131D3A2A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4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017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B34648-177C-737D-C344-A229D1A56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Функциональные 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A77DF9-66E2-A25A-5D91-FFF124E6A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2600"/>
            <a:ext cx="11019366" cy="3880773"/>
          </a:xfrm>
        </p:spPr>
        <p:txBody>
          <a:bodyPr>
            <a:noAutofit/>
          </a:bodyPr>
          <a:lstStyle/>
          <a:p>
            <a:pPr marL="180340" marR="258445" indent="26987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1. Общие требования (для всех пользователей)</a:t>
            </a:r>
          </a:p>
          <a:p>
            <a:pPr marL="180340" marR="258445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Например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  <a:ea typeface="Times New Roman" panose="02020603050405020304" pitchFamily="18" charset="0"/>
              </a:rPr>
              <a:t> - </a:t>
            </a: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Система должна предоставлять доступ к общему каталогу фильмов.</a:t>
            </a:r>
          </a:p>
          <a:p>
            <a:pPr marL="180340" marR="258445" indent="26987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2. Требования для роли "Посетитель сайта" (неавторизованный пользователь)</a:t>
            </a:r>
          </a:p>
          <a:p>
            <a:pPr marL="180340" marR="258445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Например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  <a:ea typeface="Times New Roman" panose="02020603050405020304" pitchFamily="18" charset="0"/>
              </a:rPr>
              <a:t> - </a:t>
            </a: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Система должна предоставлять возможность регистрации новой учетной записи.</a:t>
            </a:r>
          </a:p>
          <a:p>
            <a:pPr marL="180340" marR="258445" indent="26987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3. Требования для роли "Пользователь" (авторизованный пользователь)</a:t>
            </a:r>
          </a:p>
          <a:p>
            <a:pPr marL="180340" marR="258445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Например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  <a:ea typeface="Times New Roman" panose="02020603050405020304" pitchFamily="18" charset="0"/>
              </a:rPr>
              <a:t> - </a:t>
            </a: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Управление личным списком фильмов</a:t>
            </a:r>
          </a:p>
          <a:p>
            <a:pPr marL="180340" marR="258445" indent="26987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4. Требования для роли "Администратор"</a:t>
            </a:r>
          </a:p>
          <a:p>
            <a:pPr marL="180340" marR="258445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Например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  <a:ea typeface="Times New Roman" panose="02020603050405020304" pitchFamily="18" charset="0"/>
              </a:rPr>
              <a:t> - </a:t>
            </a: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Управление каталогом.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556EA3-7935-CDC7-D864-5A6D15E08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5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52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5FE49D19-F46D-A91D-733B-C0CCF10FB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1433" y="0"/>
            <a:ext cx="8596668" cy="686592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C3837-BB98-082C-2239-FA4F2835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66" y="163215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Диаграмма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прецедентов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614AEA-7CBB-0F5A-001F-93D5D917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526" y="6329660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6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22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400AA4-4261-C314-D9C4-CD7707BBF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9248"/>
            <a:ext cx="8596668" cy="132080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1"/>
                </a:solidFill>
                <a:effectLst/>
                <a:latin typeface="Trebuchet MS (Заголовки)"/>
                <a:ea typeface="Times New Roman" panose="02020603050405020304" pitchFamily="18" charset="0"/>
              </a:rPr>
              <a:t>Расширенное описание прецедента «Оценка фильма»</a:t>
            </a:r>
            <a:endParaRPr lang="ru-RU" dirty="0">
              <a:solidFill>
                <a:schemeClr val="tx1"/>
              </a:solidFill>
              <a:latin typeface="Trebuchet MS (Заголовки)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A3033B-B8FE-2087-20C5-61880F0C2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7592"/>
            <a:ext cx="9061026" cy="5550408"/>
          </a:xfrm>
        </p:spPr>
        <p:txBody>
          <a:bodyPr>
            <a:normAutofit fontScale="92500" lnSpcReduction="20000"/>
          </a:bodyPr>
          <a:lstStyle/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Предусловие: Пользователь авторизован в системе.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Действующее лицо: Пользователь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Основной поток: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1. Пользователь выбирает фильм для оценки (через каталог, свой список, случайный фильм или рекомендации).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2. Пользователь вызывает функцию оценки фильма, передавая идентификатор фильма, оценку (от 1 до 10) и опционально комментарий (до 2000 символов).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3. Система проверяет, что фильм существует в базе данных.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4. Система проверяет наличие статусов "Просмотрено" и "Оценен" в справочнике статусов.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5. Система проверяет, что фильм уже добавлен в личный список пользователя и имеет статус "Просмотрено" или "Оценен".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6. Система сохраняет оценку, устанавливает статус фильма в "Оценен" и сохраняет комментарий (если указан).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7. Система возвращает обновленную информацию о фильме в списке пользователя.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E626DA-86A2-68BB-F232-C07376E3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5905" y="609750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7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039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400AA4-4261-C314-D9C4-CD7707BBF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9248"/>
            <a:ext cx="8596668" cy="132080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1"/>
                </a:solidFill>
                <a:effectLst/>
                <a:latin typeface="Trebuchet MS (Заголовки)"/>
                <a:ea typeface="Times New Roman" panose="02020603050405020304" pitchFamily="18" charset="0"/>
              </a:rPr>
              <a:t>Расширенное описание прецедента «Оценка фильма»</a:t>
            </a:r>
            <a:endParaRPr lang="ru-RU" dirty="0">
              <a:solidFill>
                <a:schemeClr val="tx1"/>
              </a:solidFill>
              <a:latin typeface="Trebuchet MS (Заголовки)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A3033B-B8FE-2087-20C5-61880F0C2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7592"/>
            <a:ext cx="9006162" cy="5550408"/>
          </a:xfrm>
        </p:spPr>
        <p:txBody>
          <a:bodyPr>
            <a:normAutofit fontScale="92500" lnSpcReduction="10000"/>
          </a:bodyPr>
          <a:lstStyle/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Альтернативный поток №1: Если фильм не найден в базе данных, система возвращает ошибку "Фильм не найден".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Альтернативный поток №2: Если обязательные статусы ("Просмотрено" или "Оценен") отсутствуют в справочнике, система возвращает ошибку с указанием отсутствующего статуса.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Альтернативный поток №3: Если фильм не добавлен в личный список пользователя или имеет статус, отличный от "Просмотрено" или "Оценен", система возвращает ошибку "Нельзя оценить фильм, пока он не добавлен в статус «Просмотрено»".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Альтернативный поток №4: Если переданы некорректные данные (оценка вне диапазона 1-10, превышена длина комментария), система возвращает ошибку валидации.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Альтернативный поток №5: Если пользователь уже оценил фильм ранее, система позволяет изменить оценку и комментарий, обновляя существующую запись.</a:t>
            </a:r>
          </a:p>
          <a:p>
            <a:pPr marL="90170" marR="168275" indent="367030" algn="just">
              <a:lnSpc>
                <a:spcPct val="12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Trebuchet MS (Основной текст)"/>
                <a:ea typeface="Times New Roman" panose="02020603050405020304" pitchFamily="18" charset="0"/>
              </a:rPr>
              <a:t>Постусловие: Фильм получил оценку от пользователя, статус фильма в личном списке изменен на "Оценен", оценка и комментарий сохранены в базе данных.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29F4EE-474D-ED8F-756F-E1026897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09863" y="6025320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8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457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677D9-E719-7022-AD01-8270834BC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Как работает система рекомендаций?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075BDB-2CC9-1A38-7F2F-47E142F59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0473"/>
            <a:ext cx="8999682" cy="5367527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1" i="0" dirty="0">
                <a:solidFill>
                  <a:schemeClr val="tx1"/>
                </a:solidFill>
                <a:effectLst/>
                <a:latin typeface="Trebuchet MS (Основной текст)"/>
              </a:rPr>
              <a:t>Сбор и обработка предпочтений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 — пользователь оценивает жанры (0–10), оценки конвертируются в веса (от 0 до 1).</a:t>
            </a:r>
          </a:p>
          <a:p>
            <a:pPr algn="l">
              <a:lnSpc>
                <a:spcPct val="150000"/>
              </a:lnSpc>
              <a:buFont typeface="+mj-lt"/>
              <a:buAutoNum type="arabicPeriod" startAt="2"/>
            </a:pPr>
            <a:r>
              <a:rPr lang="ru-RU" b="1" i="0" dirty="0">
                <a:solidFill>
                  <a:schemeClr val="tx1"/>
                </a:solidFill>
                <a:effectLst/>
                <a:latin typeface="Trebuchet MS (Основной текст)"/>
              </a:rPr>
              <a:t>Формирование профиля интересов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 — извлечение предпочтений и вычисление средних весов по жанрам.</a:t>
            </a:r>
          </a:p>
          <a:p>
            <a:pPr algn="l">
              <a:lnSpc>
                <a:spcPct val="150000"/>
              </a:lnSpc>
              <a:buFont typeface="+mj-lt"/>
              <a:buAutoNum type="arabicPeriod" startAt="3"/>
            </a:pPr>
            <a:r>
              <a:rPr lang="ru-RU" b="1" i="0" dirty="0">
                <a:solidFill>
                  <a:schemeClr val="tx1"/>
                </a:solidFill>
                <a:effectLst/>
                <a:latin typeface="Trebuchet MS (Основной текст)"/>
              </a:rPr>
              <a:t>Фильтрация и вычисление оценок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 — сначала мы идем по списку его просмотренных</a:t>
            </a:r>
            <a:r>
              <a:rPr lang="en-US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,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 брошенных и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Trebuchet MS (Основной текст)"/>
              </a:rPr>
              <a:t>тп</a:t>
            </a:r>
            <a:r>
              <a:rPr lang="ru-RU" dirty="0">
                <a:solidFill>
                  <a:schemeClr val="tx1"/>
                </a:solidFill>
                <a:latin typeface="Trebuchet MS (Основной текст)"/>
              </a:rPr>
              <a:t>. Фильмов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</a:rPr>
              <a:t>,</a:t>
            </a:r>
            <a:r>
              <a:rPr lang="ru-RU" dirty="0">
                <a:solidFill>
                  <a:schemeClr val="tx1"/>
                </a:solidFill>
                <a:latin typeface="Trebuchet MS (Основной текст)"/>
              </a:rPr>
              <a:t> убираем их из системы рекомендаций</a:t>
            </a:r>
            <a:r>
              <a:rPr lang="en-US" dirty="0">
                <a:solidFill>
                  <a:schemeClr val="tx1"/>
                </a:solidFill>
                <a:latin typeface="Trebuchet MS (Основной текст)"/>
              </a:rPr>
              <a:t>,</a:t>
            </a:r>
            <a:r>
              <a:rPr lang="ru-RU" dirty="0">
                <a:solidFill>
                  <a:schemeClr val="tx1"/>
                </a:solidFill>
                <a:latin typeface="Trebuchet MS (Основной текст)"/>
              </a:rPr>
              <a:t> после чего идет 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поиск фильмов с совпадающими жанрами и расчет оценки как суммы весов.</a:t>
            </a:r>
          </a:p>
          <a:p>
            <a:pPr algn="l">
              <a:lnSpc>
                <a:spcPct val="150000"/>
              </a:lnSpc>
              <a:buFont typeface="+mj-lt"/>
              <a:buAutoNum type="arabicPeriod" startAt="4"/>
            </a:pPr>
            <a:r>
              <a:rPr lang="ru-RU" b="1" i="0" dirty="0">
                <a:solidFill>
                  <a:schemeClr val="tx1"/>
                </a:solidFill>
                <a:effectLst/>
                <a:latin typeface="Trebuchet MS (Основной текст)"/>
              </a:rPr>
              <a:t>Сортировка и выбор топ-20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 — сортировка по убыванию оценки и выбор лучших рекомендаций.</a:t>
            </a:r>
          </a:p>
          <a:p>
            <a:pPr algn="l">
              <a:lnSpc>
                <a:spcPct val="150000"/>
              </a:lnSpc>
              <a:buFont typeface="+mj-lt"/>
              <a:buAutoNum type="arabicPeriod" startAt="5"/>
            </a:pPr>
            <a:r>
              <a:rPr lang="ru-RU" b="1" i="0" dirty="0">
                <a:solidFill>
                  <a:schemeClr val="tx1"/>
                </a:solidFill>
                <a:effectLst/>
                <a:latin typeface="Trebuchet MS (Основной текст)"/>
              </a:rPr>
              <a:t>Нормализация выходной рекомендации</a:t>
            </a:r>
            <a:r>
              <a:rPr lang="ru-RU" b="0" i="0" dirty="0">
                <a:solidFill>
                  <a:schemeClr val="tx1"/>
                </a:solidFill>
                <a:effectLst/>
                <a:latin typeface="Trebuchet MS (Основной текст)"/>
              </a:rPr>
              <a:t> — преобразование оценки в процент (1.0→90%, 2.0→95%, 3.0→98%, далее до 99%) для более реалистичного отображения.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B46C66-1D51-91E5-476E-82AE9D51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5346" y="6057404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9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93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6B9769-4E74-4426-8B93-EDD8632E8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957" y="0"/>
            <a:ext cx="10185477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C3837-BB98-082C-2239-FA4F2835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66" y="201315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Диаграмма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Состояний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338E716-4FD8-EFF6-3B74-2638A55E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10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85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C3837-BB98-082C-2239-FA4F2835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66" y="201315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ER </a:t>
            </a:r>
            <a:r>
              <a:rPr lang="ru-RU" dirty="0">
                <a:solidFill>
                  <a:schemeClr val="tx1"/>
                </a:solidFill>
              </a:rPr>
              <a:t>Диаграмма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Базы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619B36-28FC-78B0-4B98-BFCB6E4E3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5" y="6613"/>
            <a:ext cx="6899847" cy="6844773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5883DB-CC56-16A8-F18B-4139122C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653" y="6073446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11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026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F22BC-1801-6C8C-64A0-D338B33F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Нефункциональное тестирование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Xunit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E8CF2-ABFE-A977-4CC8-7DEA3F28FBF9}"/>
              </a:ext>
            </a:extLst>
          </p:cNvPr>
          <p:cNvSpPr txBox="1"/>
          <p:nvPr/>
        </p:nvSpPr>
        <p:spPr>
          <a:xfrm>
            <a:off x="677334" y="1830533"/>
            <a:ext cx="9865698" cy="502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 err="1">
                <a:effectLst/>
                <a:latin typeface="Trebuchet MS (Основной текст)"/>
              </a:rPr>
              <a:t>RateMovie_ShouldReject_WhenMovieNotWatched</a:t>
            </a:r>
            <a:r>
              <a:rPr lang="en-US" b="0" i="0" dirty="0">
                <a:effectLst/>
                <a:latin typeface="Trebuchet MS (Основной текст)"/>
              </a:rPr>
              <a:t> — </a:t>
            </a:r>
            <a:r>
              <a:rPr lang="ru-RU" b="0" i="0" dirty="0">
                <a:effectLst/>
                <a:latin typeface="Trebuchet MS (Основной текст)"/>
              </a:rPr>
              <a:t>отклонение оценки фильма, который не просмотрен</a:t>
            </a:r>
          </a:p>
          <a:p>
            <a:pPr algn="l">
              <a:lnSpc>
                <a:spcPct val="150000"/>
              </a:lnSpc>
              <a:buFont typeface="+mj-lt"/>
              <a:buAutoNum type="arabicPeriod" startAt="2"/>
            </a:pPr>
            <a:r>
              <a:rPr lang="en-US" b="1" i="0" dirty="0" err="1">
                <a:effectLst/>
                <a:latin typeface="Trebuchet MS (Основной текст)"/>
              </a:rPr>
              <a:t>RateMovie_ShouldSucceed_WhenMovieWatched</a:t>
            </a:r>
            <a:r>
              <a:rPr lang="en-US" b="0" i="0" dirty="0">
                <a:effectLst/>
                <a:latin typeface="Trebuchet MS (Основной текст)"/>
              </a:rPr>
              <a:t> — </a:t>
            </a:r>
            <a:r>
              <a:rPr lang="ru-RU" b="0" i="0" dirty="0">
                <a:effectLst/>
                <a:latin typeface="Trebuchet MS (Основной текст)"/>
              </a:rPr>
              <a:t>успешная оценка просмотренного фильма</a:t>
            </a:r>
          </a:p>
          <a:p>
            <a:pPr algn="l">
              <a:lnSpc>
                <a:spcPct val="150000"/>
              </a:lnSpc>
              <a:buFont typeface="+mj-lt"/>
              <a:buAutoNum type="arabicPeriod" startAt="3"/>
            </a:pPr>
            <a:r>
              <a:rPr lang="en-US" b="1" i="0" dirty="0" err="1">
                <a:effectLst/>
                <a:latin typeface="Trebuchet MS (Основной текст)"/>
              </a:rPr>
              <a:t>RateMovie_ShouldReject_WhenMovieNotInList</a:t>
            </a:r>
            <a:r>
              <a:rPr lang="en-US" b="0" i="0" dirty="0">
                <a:effectLst/>
                <a:latin typeface="Trebuchet MS (Основной текст)"/>
              </a:rPr>
              <a:t> — </a:t>
            </a:r>
            <a:r>
              <a:rPr lang="ru-RU" b="0" i="0" dirty="0">
                <a:effectLst/>
                <a:latin typeface="Trebuchet MS (Основной текст)"/>
              </a:rPr>
              <a:t>отклонение оценки фильма, которого нет в списке</a:t>
            </a:r>
          </a:p>
          <a:p>
            <a:pPr algn="l">
              <a:lnSpc>
                <a:spcPct val="150000"/>
              </a:lnSpc>
              <a:buFont typeface="+mj-lt"/>
              <a:buAutoNum type="arabicPeriod" startAt="4"/>
            </a:pPr>
            <a:r>
              <a:rPr lang="en-US" b="1" i="0" dirty="0" err="1">
                <a:effectLst/>
                <a:latin typeface="Trebuchet MS (Основной текст)"/>
              </a:rPr>
              <a:t>GetUserMovies_ShouldReject_WhenUserDeleted</a:t>
            </a:r>
            <a:r>
              <a:rPr lang="en-US" b="0" i="0" dirty="0">
                <a:effectLst/>
                <a:latin typeface="Trebuchet MS (Основной текст)"/>
              </a:rPr>
              <a:t> — </a:t>
            </a:r>
            <a:r>
              <a:rPr lang="ru-RU" b="0" i="0" dirty="0">
                <a:effectLst/>
                <a:latin typeface="Trebuchet MS (Основной текст)"/>
              </a:rPr>
              <a:t>проверка существования пользователя при получении списка</a:t>
            </a:r>
          </a:p>
          <a:p>
            <a:pPr algn="l">
              <a:lnSpc>
                <a:spcPct val="150000"/>
              </a:lnSpc>
              <a:buFont typeface="+mj-lt"/>
              <a:buAutoNum type="arabicPeriod" startAt="5"/>
            </a:pPr>
            <a:r>
              <a:rPr lang="en-US" b="1" i="0" dirty="0" err="1">
                <a:effectLst/>
                <a:latin typeface="Trebuchet MS (Основной текст)"/>
              </a:rPr>
              <a:t>RateMovie_ShouldSucceed_WhenChangingRating</a:t>
            </a:r>
            <a:r>
              <a:rPr lang="en-US" b="0" i="0" dirty="0">
                <a:effectLst/>
                <a:latin typeface="Trebuchet MS (Основной текст)"/>
              </a:rPr>
              <a:t> — </a:t>
            </a:r>
            <a:r>
              <a:rPr lang="ru-RU" b="0" i="0" dirty="0">
                <a:effectLst/>
                <a:latin typeface="Trebuchet MS (Основной текст)"/>
              </a:rPr>
              <a:t>изменение оценки уже оцененного фильма</a:t>
            </a:r>
          </a:p>
          <a:p>
            <a:pPr algn="l">
              <a:lnSpc>
                <a:spcPct val="150000"/>
              </a:lnSpc>
              <a:buFont typeface="+mj-lt"/>
              <a:buAutoNum type="arabicPeriod" startAt="6"/>
            </a:pPr>
            <a:r>
              <a:rPr lang="en-US" b="1" i="0" dirty="0" err="1">
                <a:effectLst/>
                <a:latin typeface="Trebuchet MS (Основной текст)"/>
              </a:rPr>
              <a:t>RateMovie_ShouldReject_WhenUserDeleted</a:t>
            </a:r>
            <a:r>
              <a:rPr lang="en-US" b="0" i="0" dirty="0">
                <a:effectLst/>
                <a:latin typeface="Trebuchet MS (Основной текст)"/>
              </a:rPr>
              <a:t> — </a:t>
            </a:r>
            <a:r>
              <a:rPr lang="ru-RU" b="0" i="0" dirty="0">
                <a:effectLst/>
                <a:latin typeface="Trebuchet MS (Основной текст)"/>
              </a:rPr>
              <a:t>проверка существования пользователя при оценке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F677AF6-7038-6F59-F262-6E075C2BE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43032" y="6041362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12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594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F22BC-1801-6C8C-64A0-D338B33F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Нефункциональное тестирование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Xunit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3C6828-E138-0C5D-45EF-6BF975B7D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262571"/>
            <a:ext cx="7840169" cy="407726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1FFE80C-6D71-D2B5-8166-115F17AC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13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421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F22BC-1801-6C8C-64A0-D338B33F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Функциональное тестирование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Postman)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A7F12CF-EFD2-C7E8-569D-A555DB090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0" y="1994408"/>
            <a:ext cx="7498700" cy="4525264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C244C6F-4A54-BD97-176B-1EFC4DDEC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14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681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F22BC-1801-6C8C-64A0-D338B33F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Функциональное тестирование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Postman)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F39061-3231-834E-355E-6490E10F2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31" y="2171131"/>
            <a:ext cx="6925642" cy="407726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E63CA2-22DD-6442-DE70-8ABE612E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15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708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9F48DB-8F1E-E2F8-45E4-D39E659F4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Выводы по проделанной работе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5D89A5-1A8B-3447-2DCF-906684364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	Реализована веб-система онлайн-фильмотеки с разделением на </a:t>
            </a:r>
            <a:r>
              <a:rPr lang="ru-RU" dirty="0" err="1">
                <a:solidFill>
                  <a:schemeClr val="tx1"/>
                </a:solidFill>
              </a:rPr>
              <a:t>backend</a:t>
            </a:r>
            <a:r>
              <a:rPr lang="ru-RU" dirty="0">
                <a:solidFill>
                  <a:schemeClr val="tx1"/>
                </a:solidFill>
              </a:rPr>
              <a:t> (ASP.NET Core) и </a:t>
            </a:r>
            <a:r>
              <a:rPr lang="ru-RU" dirty="0" err="1">
                <a:solidFill>
                  <a:schemeClr val="tx1"/>
                </a:solidFill>
              </a:rPr>
              <a:t>frontend</a:t>
            </a:r>
            <a:r>
              <a:rPr lang="ru-RU" dirty="0">
                <a:solidFill>
                  <a:schemeClr val="tx1"/>
                </a:solidFill>
              </a:rPr>
              <a:t> (</a:t>
            </a:r>
            <a:r>
              <a:rPr lang="ru-RU" dirty="0" err="1">
                <a:solidFill>
                  <a:schemeClr val="tx1"/>
                </a:solidFill>
              </a:rPr>
              <a:t>React</a:t>
            </a:r>
            <a:r>
              <a:rPr lang="ru-RU" dirty="0">
                <a:solidFill>
                  <a:schemeClr val="tx1"/>
                </a:solidFill>
              </a:rPr>
              <a:t>). Система включает каталог фильмов с расширенной фильтрацией, персональные списки пользователей с оценками и комментариями, рекомендации на основе жанровых предпочтений, аутентификацию через JWT и административную панель для управления контентом и пользователями. Применены реляционная БД (MySQL), ролевая модель доступа (</a:t>
            </a:r>
            <a:r>
              <a:rPr lang="ru-RU" dirty="0" err="1">
                <a:solidFill>
                  <a:schemeClr val="tx1"/>
                </a:solidFill>
              </a:rPr>
              <a:t>user</a:t>
            </a:r>
            <a:r>
              <a:rPr lang="ru-RU" dirty="0">
                <a:solidFill>
                  <a:schemeClr val="tx1"/>
                </a:solidFill>
              </a:rPr>
              <a:t>/</a:t>
            </a:r>
            <a:r>
              <a:rPr lang="ru-RU" dirty="0" err="1">
                <a:solidFill>
                  <a:schemeClr val="tx1"/>
                </a:solidFill>
              </a:rPr>
              <a:t>admin</a:t>
            </a:r>
            <a:r>
              <a:rPr lang="ru-RU" dirty="0">
                <a:solidFill>
                  <a:schemeClr val="tx1"/>
                </a:solidFill>
              </a:rPr>
              <a:t>) и REST API. Проведены различные виды тестирования (Функциональные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ru-RU" dirty="0">
                <a:solidFill>
                  <a:schemeClr val="tx1"/>
                </a:solidFill>
              </a:rPr>
              <a:t> нефункциональные)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1A2715-70E4-65B7-5941-69DB1002F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>
                <a:solidFill>
                  <a:schemeClr val="tx1"/>
                </a:solidFill>
              </a:rPr>
              <a:pPr/>
              <a:t>16</a:t>
            </a:fld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400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70CCB-A083-2843-258F-796911FA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768600"/>
            <a:ext cx="8596668" cy="1320800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8940792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268</TotalTime>
  <Words>883</Words>
  <Application>Microsoft Office PowerPoint</Application>
  <PresentationFormat>Широкоэкранный</PresentationFormat>
  <Paragraphs>81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Trebuchet MS</vt:lpstr>
      <vt:lpstr>Trebuchet MS (Заголовки)</vt:lpstr>
      <vt:lpstr>Trebuchet MS (Основной текст)</vt:lpstr>
      <vt:lpstr>Wingdings 3</vt:lpstr>
      <vt:lpstr>Аспект</vt:lpstr>
      <vt:lpstr>Курсовой проект на тему «Онлайн фильмотека»</vt:lpstr>
      <vt:lpstr>Анализ предметной области</vt:lpstr>
      <vt:lpstr>Пользователи подсистемы:</vt:lpstr>
      <vt:lpstr>Выбор технологий (Нефункциональные требования)</vt:lpstr>
      <vt:lpstr>Функциональные требования</vt:lpstr>
      <vt:lpstr>Диаграмма  прецедентов </vt:lpstr>
      <vt:lpstr>Расширенное описание прецедента «Оценка фильма»</vt:lpstr>
      <vt:lpstr>Расширенное описание прецедента «Оценка фильма»</vt:lpstr>
      <vt:lpstr>Как работает система рекомендаций?</vt:lpstr>
      <vt:lpstr>Диаграмма  Состояний </vt:lpstr>
      <vt:lpstr>ER Диаграмма Базы данных</vt:lpstr>
      <vt:lpstr>Нефункциональное тестирование (Xunit)</vt:lpstr>
      <vt:lpstr>Нефункциональное тестирование (Xunit)</vt:lpstr>
      <vt:lpstr>Функциональное тестирование (Postman)</vt:lpstr>
      <vt:lpstr>Функциональное тестирование (Postman)</vt:lpstr>
      <vt:lpstr>Выводы по проделанной работе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Роман парфёнов</dc:creator>
  <cp:lastModifiedBy>Роман парфёнов</cp:lastModifiedBy>
  <cp:revision>10</cp:revision>
  <dcterms:created xsi:type="dcterms:W3CDTF">2025-12-10T11:22:00Z</dcterms:created>
  <dcterms:modified xsi:type="dcterms:W3CDTF">2025-12-11T10:05:39Z</dcterms:modified>
</cp:coreProperties>
</file>